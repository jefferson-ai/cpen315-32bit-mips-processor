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3308747"/>
            <a:ext cx="1866900" cy="1747838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1720454"/>
            <a:ext cx="6897688" cy="3443288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 sz="135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1600200"/>
            <a:ext cx="8423275" cy="1102519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914650"/>
            <a:ext cx="6400800" cy="898922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8806"/>
            <a:ext cx="3868737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3057525"/>
            <a:ext cx="1397000" cy="1312069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350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3562350"/>
            <a:ext cx="7013575" cy="1601391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 sz="1350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5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5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5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fontAlgn="base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11E2D"/>
          </a:solidFill>
          <a:ln w="12700">
            <a:solidFill>
              <a:srgbClr val="11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0"/>
            <a:ext cx="36576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486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09728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82296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92024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56032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20040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402336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365760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CPEN 315 — FINAL PROJECT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BUILDING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57200" y="178308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 CPU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A9BB5"/>
                </a:solidFill>
              </a:rPr>
              <a:t>From Logic Gates to VHDL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3756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3"/>
                </a:solidFill>
              </a:rPr>
              <a:t>Part A: 16-bit CPU in Logisim Evolution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1304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3"/>
                </a:solidFill>
              </a:rPr>
              <a:t>Part B: 32-bit MIPS Processor in VHDL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University of Ghana  •  School of Engineering Sciences  •  2025/2026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BB5"/>
                </a:solidFill>
              </a:rPr>
              <a:t>A two-stage journey from visual circuit design to hardware description language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BB5"/>
                </a:solidFill>
              </a:rPr>
              <a:t>16-bit CPU in Logisim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9339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Visual circuit design environment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68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16-bit ALU: 14 arithmetic + 6 relational ops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999232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94436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Registers, RAM, Control Unit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474720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419856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13 MIPS instruction subset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950208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895344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Full datapath assembled in Logisim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1148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43000"/>
            <a:ext cx="41148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2344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16184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BB5"/>
                </a:solidFill>
              </a:rPr>
              <a:t>32-bit MIPS in VHDL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4920" y="2048256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99339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Hardware Description Language (VHDL)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74920" y="2523744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468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5 core components implemented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74920" y="299923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294436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GHDL simulation + GTKWave waveforms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74920" y="347472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3419856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8 opcodes, 5 ALU operations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74920" y="3950208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3895344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All 5 testbench tasks passed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FFFFF"/>
                </a:solidFill>
              </a:rPr>
              <a:t>16-bit CPU in Logisim Evolution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BB5"/>
                </a:solidFill>
              </a:rPr>
              <a:t>Visual circuit design • Arithmetic Logic Unit • Registers • Control Unit • Full Datapath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16-bit CPU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Instruction Set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89888"/>
            <a:ext cx="356616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89888"/>
            <a:ext cx="64008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43560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</a:rPr>
              <a:t>R-FORMAT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69164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op(3) | rs(3) | rt(3) | rd(3) | funct(4)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92938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Arithmetic ops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356616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487168"/>
            <a:ext cx="64008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328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I-FORMAT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78892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op(3) | rs(3) | rt(3) | Immediate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302666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Memory + Branch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584448"/>
            <a:ext cx="356616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84448"/>
            <a:ext cx="64008" cy="8412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301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J-FORMAT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88620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op(3) | Target Address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412394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Jumps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86868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9601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Supported Instructions (13)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426464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4264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23560" y="143560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R[rd] = R[rs] + R[rt]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810512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81051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181965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R[rd] = R[rs] - R[rt]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2194560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1945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/ 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23560" y="220370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Bitwise operations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578608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57860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23560" y="258775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Set on Less Than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962656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9626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23560" y="297180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PC = R[rs]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346704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467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 / sw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23560" y="335584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Load / Store word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3730752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73075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23560" y="373989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Branch if equal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4114800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411480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/ slti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23560" y="412394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Immediate ops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4498848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44988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/ jal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623560" y="45079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Jump / Jump &amp; Link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16-bit Arithmetic Logic Unit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60120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</a:rPr>
              <a:t>Arithmetic Operations (14)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533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ADD: A + 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353312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3533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13716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AND: A &amp; 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83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80136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OR: A | 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1783080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783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34640" y="180136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XOR: A ^ 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212848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1284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223113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DIV: A / 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23160" y="2212848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21284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23113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MOD: A % 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642616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6426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266090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MULT: A × 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23160" y="2642616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26426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34640" y="266090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SUB: A - 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072384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723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309067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SLL A by 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23160" y="3072384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307238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34640" y="309067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SLL B by 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3502152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5021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35204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SRL A by 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423160" y="3502152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35021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35204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SRL B by 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3931920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9319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4400" y="39502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2's comp -A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23160" y="3931920"/>
            <a:ext cx="365760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3160" y="39319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834640" y="39502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2's comp -B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80560" y="86868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63440" y="960120"/>
            <a:ext cx="3931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</a:rPr>
              <a:t>Relational Operations (6)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17720" y="1371600"/>
            <a:ext cx="3657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137160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138988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 &gt; B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629400" y="1371600"/>
            <a:ext cx="3657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29400" y="137160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40880" y="138988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 == 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17720" y="1783080"/>
            <a:ext cx="3657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178308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0" y="180136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 &gt;= B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29400" y="1783080"/>
            <a:ext cx="3657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29400" y="178308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40880" y="180136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 &lt; B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17720" y="2194560"/>
            <a:ext cx="3657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21945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29200" y="221284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 &lt;= B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29400" y="2194560"/>
            <a:ext cx="3657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9400" y="219456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040880" y="221284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 != B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480560" y="2834640"/>
            <a:ext cx="4297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663440" y="2926080"/>
            <a:ext cx="3931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</a:rPr>
              <a:t>Port Map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617720" y="3355848"/>
            <a:ext cx="365760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17720" y="335584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IN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047488" y="33558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A[15:0]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492240" y="33558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Input operand A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17720" y="3648456"/>
            <a:ext cx="365760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17720" y="3648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IN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047488" y="364845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B[15:0]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492240" y="3648456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Input operand B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17720" y="3941064"/>
            <a:ext cx="365760" cy="201168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17720" y="3941064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IN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047488" y="394106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AUSel[3:0]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492240" y="394106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Arithmetic select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617720" y="4233672"/>
            <a:ext cx="365760" cy="201168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17720" y="423367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IN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047488" y="42336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RUSel[2:0]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492240" y="423367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Relational select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17720" y="4526280"/>
            <a:ext cx="365760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17720" y="452628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OUT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047488" y="45262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AUResult[15:0]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492240" y="45262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Arithmetic result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617720" y="4818888"/>
            <a:ext cx="365760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17720" y="481888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OUT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5047488" y="481888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RUResult[0]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6492240" y="481888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Relational result (1-bit)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Control Unit &amp; Full Datapath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5"/>
                </a:solidFill>
              </a:rPr>
              <a:t>Control Unit Signal Table (opcode → control signals)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00584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Instruction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1298448"/>
            <a:ext cx="73152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29844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reg_dst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1298448"/>
            <a:ext cx="86868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29844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mem_to_reg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46120" y="1298448"/>
            <a:ext cx="71323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9844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alu_op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77640" y="1298448"/>
            <a:ext cx="53035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298448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jump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26280" y="1298448"/>
            <a:ext cx="53035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298448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branch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74920" y="1298448"/>
            <a:ext cx="53035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298448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mem_rd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23560" y="1298448"/>
            <a:ext cx="53035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298448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mem_wr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72200" y="1298448"/>
            <a:ext cx="59436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29844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alu_src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298448"/>
            <a:ext cx="59436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29844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reg_wr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1609344"/>
            <a:ext cx="81381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161848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54480" y="161848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161848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46120" y="161848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161848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26280" y="161848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161848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23560" y="161848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1618488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1618488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1865376"/>
            <a:ext cx="81381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187452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554480" y="18745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31720" y="1874520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46120" y="1874520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77640" y="187452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26280" y="187452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187452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23560" y="187452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72200" y="1874520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12280" y="1874520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2121408"/>
            <a:ext cx="81381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213055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554480" y="21305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331720" y="21305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46120" y="2130552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977640" y="213055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26280" y="213055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74920" y="213055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23560" y="213055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72200" y="213055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12280" y="213055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2920" y="2377440"/>
            <a:ext cx="81381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238658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554480" y="238658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331720" y="238658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246120" y="2386584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977640" y="2386584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26280" y="2386584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74920" y="2386584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623560" y="2386584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172200" y="2386584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12280" y="2386584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02920" y="2633472"/>
            <a:ext cx="81381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264261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554480" y="264261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331720" y="2642616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246120" y="2642616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977640" y="2642616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26280" y="2642616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74920" y="2642616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623560" y="2642616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172200" y="2642616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812280" y="2642616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02920" y="2889504"/>
            <a:ext cx="81381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" y="289864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554480" y="289864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331720" y="289864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246120" y="289864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977640" y="289864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526280" y="289864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074920" y="289864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623560" y="2898648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172200" y="2898648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812280" y="2898648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02920" y="3145536"/>
            <a:ext cx="81381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2920" y="315468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554480" y="315468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2331720" y="3154680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246120" y="3154680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977640" y="31546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526280" y="31546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5074920" y="31546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623560" y="3154680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172200" y="3154680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812280" y="3154680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02920" y="3401568"/>
            <a:ext cx="81381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920" y="341071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slti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554480" y="341071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2331720" y="341071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246120" y="3410712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3977640" y="341071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526280" y="341071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074920" y="341071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5623560" y="3410712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172200" y="341071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812280" y="341071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548640" y="41330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Datapath Components: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48640" y="4498848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3232" y="44439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16-bit ALU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2651760" y="4498848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816352" y="44439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Register File (8 regs)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4754880" y="4498848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19472" y="44439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Instruction Memory (ROM)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6858000" y="4498848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022592" y="44439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Data Memory (RAM)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548640" y="4818888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13232" y="476402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Program Counter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651760" y="4818888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816352" y="476402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Sign Extender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4754880" y="4818888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19472" y="476402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MUXes &amp; Adders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E5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PART 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</a:rPr>
              <a:t>32-bit Single-Cycle MIPS Processor in VHDL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BB5"/>
                </a:solidFill>
              </a:rPr>
              <a:t>GHDL Simulator • GTKWave • VS Code • VHDL-2008 Standard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32-bit MIPS Processor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41148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7840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Instruction 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27101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instruction_memory.vhd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49047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16-entry ROM, 32-bit wide. PC selects instruction. Returns NOP if PC ≥ 32.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86000"/>
            <a:ext cx="41148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9572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Register 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68833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register_file.vhd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90779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8 × 32-bit registers. R0 hardwired=0. Async read (2 ports), sync write.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03320"/>
            <a:ext cx="4114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81304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ALU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10565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alu.vhd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432511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ADD, SUB, AND, OR, SLT. Zero flag for BEQ. Purely combinational.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8686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868680"/>
            <a:ext cx="41148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97840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ALU Control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127101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alu_control.vhd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65192" y="149047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2-level decoder: ALUOp + funct → 3-bit alu_control signal.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28600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286000"/>
            <a:ext cx="41148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239572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Data Memory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268833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data_memory.vhd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65192" y="290779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256 × 32-bit synchronous RAM. Separate read/write enables.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7033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03320"/>
            <a:ext cx="41148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81304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Control Unit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65192" y="410565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control_unit.vhd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65192" y="432511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Decodes 3-bit opcode → 10 control signals for the datapath.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Task 1: Data Memory  +  Task 2: ALU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9319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78408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Task 1 — Data 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BB5"/>
                </a:solidFill>
              </a:rPr>
              <a:t>256 × 32-bit synchronous RAM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645920"/>
            <a:ext cx="1005840" cy="347472"/>
          </a:xfrm>
          <a:prstGeom prst="rect">
            <a:avLst/>
          </a:prstGeom>
          <a:solidFill>
            <a:srgbClr val="A78B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Op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99616" y="1645920"/>
            <a:ext cx="594360" cy="347472"/>
          </a:xfrm>
          <a:prstGeom prst="rect">
            <a:avLst/>
          </a:prstGeom>
          <a:solidFill>
            <a:srgbClr val="A78B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9616" y="1645920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Address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12264" y="1645920"/>
            <a:ext cx="822960" cy="347472"/>
          </a:xfrm>
          <a:prstGeom prst="rect">
            <a:avLst/>
          </a:prstGeom>
          <a:solidFill>
            <a:srgbClr val="A78B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164592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Data Written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53512" y="1645920"/>
            <a:ext cx="777240" cy="347472"/>
          </a:xfrm>
          <a:prstGeom prst="rect">
            <a:avLst/>
          </a:prstGeom>
          <a:solidFill>
            <a:srgbClr val="A78B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1645920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Data Read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49040" y="1645920"/>
            <a:ext cx="502920" cy="347472"/>
          </a:xfrm>
          <a:prstGeom prst="rect">
            <a:avLst/>
          </a:prstGeom>
          <a:solidFill>
            <a:srgbClr val="A78B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64592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✓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" y="2121408"/>
            <a:ext cx="100584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121408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WRITE→READ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99616" y="2121408"/>
            <a:ext cx="59436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9616" y="2121408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12264" y="2121408"/>
            <a:ext cx="82296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12264" y="212140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1,024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53512" y="2121408"/>
            <a:ext cx="77724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3512" y="2121408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1,024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2121408"/>
            <a:ext cx="5029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12140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</a:rPr>
              <a:t>PASS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" y="2596896"/>
            <a:ext cx="100584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596896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WRITE→READ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499616" y="2596896"/>
            <a:ext cx="594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9616" y="2596896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12264" y="2596896"/>
            <a:ext cx="8229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12264" y="2596896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429,496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53512" y="2596896"/>
            <a:ext cx="77724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3512" y="2596896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429,496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49040" y="2596896"/>
            <a:ext cx="5029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59689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</a:rPr>
              <a:t>PASS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" y="3072384"/>
            <a:ext cx="100584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072384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RETAIN CHK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499616" y="3072384"/>
            <a:ext cx="59436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99616" y="3072384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12264" y="3072384"/>
            <a:ext cx="82296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12264" y="3072384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53512" y="3072384"/>
            <a:ext cx="77724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3512" y="3072384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1,024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49040" y="3072384"/>
            <a:ext cx="5029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07238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</a:rPr>
              <a:t>PASS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3584448"/>
            <a:ext cx="3657600" cy="1097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3648456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GTKWave — tb_data_memory.vcd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" y="3950208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" y="390448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clk → toggles every 5 ns (10 ns period)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0080" y="4142232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" y="409651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Write 0x00000400 → addr 2 @ rising edge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0080" y="4334256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4288536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Read back 0x00000400 ✓ next cycle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" y="452628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" y="44805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Write 0x000691F8 → addr 4, retain check ✓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480560" y="86868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480560" y="868680"/>
            <a:ext cx="42976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978408"/>
            <a:ext cx="3931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Task 2 — ALU Operations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663440" y="12801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BB5"/>
                </a:solidFill>
              </a:rPr>
              <a:t>32-bit combinational: ADD, SUB, AND, OR, SLT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17720" y="1664208"/>
            <a:ext cx="475488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1664208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Op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111496" y="1664208"/>
            <a:ext cx="914400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11496" y="16642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44184" y="1664208"/>
            <a:ext cx="960120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44184" y="166420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22592" y="1664208"/>
            <a:ext cx="960120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22592" y="166420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001000" y="1664208"/>
            <a:ext cx="502920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01000" y="16642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617720" y="2029968"/>
            <a:ext cx="475488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17720" y="2029968"/>
            <a:ext cx="4754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ADD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111496" y="2029968"/>
            <a:ext cx="91440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11496" y="2029968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2,500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044184" y="2029968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44184" y="2029968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25,000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022592" y="2029968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22592" y="2029968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27,500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001000" y="2029968"/>
            <a:ext cx="5029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01000" y="202996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6B3A"/>
                </a:solidFill>
              </a:rPr>
              <a:t>PASS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617720" y="2432304"/>
            <a:ext cx="475488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17720" y="2432304"/>
            <a:ext cx="4754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SUB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111496" y="2432304"/>
            <a:ext cx="91440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11496" y="2432304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540,250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44184" y="2432304"/>
            <a:ext cx="9601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44184" y="2432304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37,800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022592" y="2432304"/>
            <a:ext cx="9601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22592" y="2432304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502,450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001000" y="2432304"/>
            <a:ext cx="5029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01000" y="243230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6B3A"/>
                </a:solidFill>
              </a:rPr>
              <a:t>PASS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617720" y="2834640"/>
            <a:ext cx="475488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17720" y="2834640"/>
            <a:ext cx="4754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AND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111496" y="2834640"/>
            <a:ext cx="91440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11496" y="2834640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53,957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044184" y="2834640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44184" y="2834640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30,000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022592" y="2834640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22592" y="2834640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20,512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8001000" y="2834640"/>
            <a:ext cx="5029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01000" y="283464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6B3A"/>
                </a:solidFill>
              </a:rPr>
              <a:t>PASS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617720" y="3236976"/>
            <a:ext cx="475488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17720" y="3236976"/>
            <a:ext cx="4754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OR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5111496" y="3236976"/>
            <a:ext cx="91440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11496" y="3236976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746,353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044184" y="3236976"/>
            <a:ext cx="9601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044184" y="3236976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846,465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022592" y="3236976"/>
            <a:ext cx="9601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022592" y="3236976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1,046,897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001000" y="3236976"/>
            <a:ext cx="502920" cy="347472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001000" y="323697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6B3A"/>
                </a:solidFill>
              </a:rPr>
              <a:t>PASS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4617720" y="3639312"/>
            <a:ext cx="475488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617720" y="3639312"/>
            <a:ext cx="4754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SLT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5111496" y="3639312"/>
            <a:ext cx="91440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111496" y="3639312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58,847,537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6044184" y="3639312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44184" y="3639312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72,464,383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7022592" y="3639312"/>
            <a:ext cx="9601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022592" y="3639312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</a:rPr>
              <a:t>1 (A&lt;B)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8001000" y="3639312"/>
            <a:ext cx="5029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001000" y="3639312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6B3A"/>
                </a:solidFill>
              </a:rPr>
              <a:t>PASS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4617720" y="4087368"/>
            <a:ext cx="3977640" cy="594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09160" y="4151376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</a:rPr>
              <a:t>Zero flag: SUB(0xABCD, 0xABCD) → result=0 → zero='1' ✓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Task 3: Register File  +  Task 4: Instruction Memory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93192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78408"/>
            <a:ext cx="3657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Task 3 — Register 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5"/>
                </a:solidFill>
              </a:rPr>
              <a:t>8 × 32-bit • Async reads • Sync write • R0 = 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64208"/>
            <a:ext cx="411480" cy="3017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4114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Reg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32688" y="1664208"/>
            <a:ext cx="1234440" cy="3017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664208"/>
            <a:ext cx="12344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Value Written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85416" y="1664208"/>
            <a:ext cx="1463040" cy="3017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166420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Hex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66744" y="1664208"/>
            <a:ext cx="594360" cy="3017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1664208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✓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011680"/>
            <a:ext cx="4114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11680"/>
            <a:ext cx="4114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32688" y="2011680"/>
            <a:ext cx="12344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2011680"/>
            <a:ext cx="12344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1,934,858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85416" y="2011680"/>
            <a:ext cx="14630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2011680"/>
            <a:ext cx="1463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0x001D908A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66744" y="2011680"/>
            <a:ext cx="5943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2011680"/>
            <a:ext cx="5943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2404872"/>
            <a:ext cx="41148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404872"/>
            <a:ext cx="4114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2688" y="2404872"/>
            <a:ext cx="123444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2404872"/>
            <a:ext cx="12344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8,558,447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85416" y="2404872"/>
            <a:ext cx="146304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5416" y="2404872"/>
            <a:ext cx="1463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0x008282AF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66744" y="2404872"/>
            <a:ext cx="59436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66744" y="2404872"/>
            <a:ext cx="5943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2798064"/>
            <a:ext cx="4114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798064"/>
            <a:ext cx="4114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32688" y="2798064"/>
            <a:ext cx="12344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2798064"/>
            <a:ext cx="12344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203,848,544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85416" y="2798064"/>
            <a:ext cx="14630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2798064"/>
            <a:ext cx="1463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0x0C283660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66744" y="2798064"/>
            <a:ext cx="5943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66744" y="2798064"/>
            <a:ext cx="5943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3191256"/>
            <a:ext cx="41148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191256"/>
            <a:ext cx="4114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2688" y="3191256"/>
            <a:ext cx="123444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3191256"/>
            <a:ext cx="12344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20,670,420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85416" y="3191256"/>
            <a:ext cx="146304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85416" y="3191256"/>
            <a:ext cx="1463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0x013A9794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66744" y="3191256"/>
            <a:ext cx="59436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66744" y="3191256"/>
            <a:ext cx="5943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3584448"/>
            <a:ext cx="4114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3584448"/>
            <a:ext cx="4114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32688" y="3584448"/>
            <a:ext cx="12344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688" y="3584448"/>
            <a:ext cx="12344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(hardwired)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85416" y="3584448"/>
            <a:ext cx="14630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85416" y="3584448"/>
            <a:ext cx="146304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66744" y="3584448"/>
            <a:ext cx="5943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66744" y="3584448"/>
            <a:ext cx="59436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920" y="4023360"/>
            <a:ext cx="365760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4078224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Dual-port reads: R1+R3 simultaneously → correct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Async: data appears immediately on address change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Wave shows reg_write_en going low after writes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480560" y="86868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480560" y="868680"/>
            <a:ext cx="429768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978408"/>
            <a:ext cx="3931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</a:rPr>
              <a:t>Task 4 — Instruction Memory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663440" y="12801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BB5"/>
                </a:solidFill>
              </a:rPr>
              <a:t>Register map: $t0=R1  $t1=R3  $t2=R5  $t3=R7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17720" y="1664208"/>
            <a:ext cx="502920" cy="3017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1664208"/>
            <a:ext cx="502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PC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138928" y="1664208"/>
            <a:ext cx="1691640" cy="3017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38928" y="1664208"/>
            <a:ext cx="16916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Instruction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48856" y="1664208"/>
            <a:ext cx="1600200" cy="3017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48856" y="1664208"/>
            <a:ext cx="1600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Hex Encoding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17720" y="2011680"/>
            <a:ext cx="5029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17720" y="2011680"/>
            <a:ext cx="5029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138928" y="2011680"/>
            <a:ext cx="16916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38928" y="2011680"/>
            <a:ext cx="169164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$t0, $t1, $t2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848856" y="2011680"/>
            <a:ext cx="16002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48856" y="2011680"/>
            <a:ext cx="160020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0x0D420000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17720" y="2404872"/>
            <a:ext cx="50292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17720" y="2404872"/>
            <a:ext cx="5029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138928" y="2404872"/>
            <a:ext cx="169164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38928" y="2404872"/>
            <a:ext cx="169164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$t2, $t2, $t3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848856" y="2404872"/>
            <a:ext cx="160020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48856" y="2404872"/>
            <a:ext cx="160020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0x17440400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17720" y="2798064"/>
            <a:ext cx="5029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17720" y="2798064"/>
            <a:ext cx="5029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0x02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138928" y="2798064"/>
            <a:ext cx="16916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38928" y="2798064"/>
            <a:ext cx="169164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$t1, $t2, $t0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848856" y="2798064"/>
            <a:ext cx="16002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48856" y="2798064"/>
            <a:ext cx="160020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0x14580800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17720" y="3191256"/>
            <a:ext cx="50292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17720" y="3191256"/>
            <a:ext cx="5029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0x03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138928" y="3191256"/>
            <a:ext cx="169164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38928" y="3191256"/>
            <a:ext cx="169164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$t2, $t3, $t1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848856" y="3191256"/>
            <a:ext cx="1600200" cy="338328"/>
          </a:xfrm>
          <a:prstGeom prst="rect">
            <a:avLst/>
          </a:prstGeom>
          <a:solidFill>
            <a:srgbClr val="E8EDF3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48856" y="3191256"/>
            <a:ext cx="160020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0x1ED41800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17720" y="3584448"/>
            <a:ext cx="5029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17720" y="3584448"/>
            <a:ext cx="5029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138928" y="3584448"/>
            <a:ext cx="16916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38928" y="3584448"/>
            <a:ext cx="169164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 (out of range)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848856" y="3584448"/>
            <a:ext cx="16002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848856" y="3584448"/>
            <a:ext cx="1600200" cy="33832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617720" y="4023360"/>
            <a:ext cx="397764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54880" y="4078224"/>
            <a:ext cx="3749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Combinational: no clock needed — instruction changes instantly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PC=0x20 → returns 0x00000000 (boundary protection)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9BB5"/>
                </a:solidFill>
              </a:rPr>
              <a:t>4 instructions decode correctly from 32-bit encoding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Task 5: Control Unit — Signal Table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9BB5"/>
                </a:solidFill>
              </a:rPr>
              <a:t>3-bit opcode → 10 datapath control signals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91440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435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Instruction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80160" y="1243584"/>
            <a:ext cx="50292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24358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Opcode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83080" y="1243584"/>
            <a:ext cx="566928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2435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reg_dst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50008" y="1243584"/>
            <a:ext cx="713232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1243584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mem_to_reg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063240" y="1243584"/>
            <a:ext cx="566928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2435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alu_op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30168" y="1243584"/>
            <a:ext cx="45720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2435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jump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87368" y="1243584"/>
            <a:ext cx="50292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87368" y="124358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branch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90288" y="1243584"/>
            <a:ext cx="50292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24358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mem_rd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93208" y="1243584"/>
            <a:ext cx="50292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124358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mem_wr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596128" y="1243584"/>
            <a:ext cx="566928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124358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alu_src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63056" y="1243584"/>
            <a:ext cx="54864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124358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reg_wr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1572768"/>
            <a:ext cx="9144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5727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 (add)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80160" y="157276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15727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83080" y="157276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157276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50008" y="1572768"/>
            <a:ext cx="713232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0008" y="157276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63240" y="157276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157276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0168" y="1572768"/>
            <a:ext cx="4572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0168" y="15727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87368" y="157276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87368" y="15727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90288" y="157276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15727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93208" y="157276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3208" y="15727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96128" y="157276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157276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63056" y="1572768"/>
            <a:ext cx="54864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3056" y="157276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1847088"/>
            <a:ext cx="9144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184708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280160" y="184708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80160" y="18470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83080" y="184708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83080" y="184708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350008" y="1847088"/>
            <a:ext cx="713232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50008" y="184708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063240" y="184708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63240" y="184708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30168" y="1847088"/>
            <a:ext cx="4572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30168" y="184708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087368" y="184708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87368" y="18470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90288" y="184708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90288" y="18470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093208" y="184708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93208" y="18470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596128" y="184708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96128" y="184708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63056" y="1847088"/>
            <a:ext cx="54864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63056" y="184708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2121408"/>
            <a:ext cx="9144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212140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280160" y="212140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280160" y="21214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783080" y="212140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83080" y="21214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350008" y="2121408"/>
            <a:ext cx="713232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50008" y="212140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063240" y="212140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63240" y="21214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630168" y="2121408"/>
            <a:ext cx="4572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30168" y="212140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087368" y="212140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87368" y="21214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590288" y="212140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90288" y="21214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093208" y="212140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93208" y="21214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596128" y="212140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96128" y="21214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163056" y="2121408"/>
            <a:ext cx="54864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63056" y="212140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65760" y="2395728"/>
            <a:ext cx="9144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5760" y="239572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280160" y="239572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280160" y="239572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783080" y="239572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783080" y="23957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350008" y="2395728"/>
            <a:ext cx="713232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50008" y="239572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063240" y="239572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63240" y="23957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630168" y="2395728"/>
            <a:ext cx="4572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30168" y="239572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087368" y="239572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87368" y="239572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4590288" y="239572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90288" y="239572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093208" y="239572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93208" y="239572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596128" y="239572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6128" y="239572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163056" y="2395728"/>
            <a:ext cx="54864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163056" y="239572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65760" y="2670048"/>
            <a:ext cx="9144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5760" y="26700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1280160" y="267004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280160" y="267004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783080" y="267004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783080" y="267004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350008" y="2670048"/>
            <a:ext cx="713232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350008" y="267004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3063240" y="267004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063240" y="267004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630168" y="2670048"/>
            <a:ext cx="4572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630168" y="2670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087368" y="267004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087368" y="267004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4590288" y="267004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90288" y="267004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093208" y="267004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93208" y="267004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5596128" y="267004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596128" y="267004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6163056" y="2670048"/>
            <a:ext cx="54864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163056" y="267004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65760" y="2944368"/>
            <a:ext cx="9144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65760" y="29443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1280160" y="294436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280160" y="29443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1783080" y="294436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783080" y="294436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2350008" y="2944368"/>
            <a:ext cx="713232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350008" y="294436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3063240" y="294436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063240" y="294436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3630168" y="2944368"/>
            <a:ext cx="4572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630168" y="29443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087368" y="294436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087368" y="29443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4590288" y="294436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90288" y="29443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5093208" y="294436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093208" y="29443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5596128" y="294436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596128" y="294436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6163056" y="2944368"/>
            <a:ext cx="54864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163056" y="294436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365760" y="3218688"/>
            <a:ext cx="9144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65760" y="321868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1280160" y="321868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280160" y="32186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1783080" y="321868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783080" y="321868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2350008" y="3218688"/>
            <a:ext cx="713232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350008" y="321868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3063240" y="321868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063240" y="321868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3630168" y="3218688"/>
            <a:ext cx="45720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630168" y="321868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4087368" y="321868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087368" y="32186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4590288" y="321868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590288" y="32186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5093208" y="3218688"/>
            <a:ext cx="50292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093208" y="32186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5596128" y="3218688"/>
            <a:ext cx="566928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596128" y="321868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163056" y="3218688"/>
            <a:ext cx="54864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163056" y="321868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365760" y="3493008"/>
            <a:ext cx="9144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65760" y="349300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1280160" y="349300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280160" y="34930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1783080" y="349300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783080" y="34930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2350008" y="3493008"/>
            <a:ext cx="713232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350008" y="349300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3063240" y="349300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063240" y="34930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3630168" y="3493008"/>
            <a:ext cx="45720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630168" y="349300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4087368" y="349300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087368" y="34930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4590288" y="349300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590288" y="34930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5093208" y="3493008"/>
            <a:ext cx="50292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093208" y="349300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5596128" y="3493008"/>
            <a:ext cx="566928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596128" y="34930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6163056" y="3493008"/>
            <a:ext cx="548640" cy="256032"/>
          </a:xfrm>
          <a:prstGeom prst="rect">
            <a:avLst/>
          </a:prstGeom>
          <a:solidFill>
            <a:srgbClr val="EDF2F7"/>
          </a:solidFill>
          <a:ln w="3810">
            <a:solidFill>
              <a:srgbClr val="D8E4EE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163056" y="349300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274320" y="4370832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7" name="Shape 205"/>
          <p:cNvSpPr/>
          <p:nvPr/>
        </p:nvSpPr>
        <p:spPr>
          <a:xfrm>
            <a:off x="411480" y="4489704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576072" y="4443984"/>
            <a:ext cx="8229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jal: only instruction with jump=1 AND reg_write=1 (saves PC+4 to R7)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411480" y="465429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576072" y="4608576"/>
            <a:ext cx="8229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sw: only instruction with mem_write=1 but reg_write=0 (store doesn't write to register)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411480" y="4818888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76072" y="4773168"/>
            <a:ext cx="8229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beq: only instruction with branch=1 — gates the branch adder with the ALU zero flag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PART 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GTKWave Simulation Results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114800" cy="12344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41148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326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tb_alu.vcd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2070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6 transitions @ 20 ns each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453896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alu_control: 000→001→010→011→100→001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Results: 27500, 502450, 20512, 1046897, 1, zero='1'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4114800" cy="12344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12848"/>
            <a:ext cx="41148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042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tb_data_memory.vcd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5786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Sync write then read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825496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0x00000400 @ addr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0x000691F8 @ addr 4 → both retained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4114800" cy="12344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84448"/>
            <a:ext cx="41148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6758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tb_register_file.vcd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9502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Async dual-port reads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4197096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R1,R3,R5,R7 written then read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Simultaneous port reads confirmed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841248"/>
            <a:ext cx="4114800" cy="19202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841248"/>
            <a:ext cx="41148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9326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tb_instruction_memory.vcd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12070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Combinational ROM fetch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02352" y="1453896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PC 0→1→2→3: 4 instructions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PC=0x20 → 0x00000000 (NOP) 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2212848"/>
            <a:ext cx="4114800" cy="19202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2212848"/>
            <a:ext cx="41148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3042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tb_control_unit.vcd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25786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8 opcode cycles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02352" y="2825496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All 10 signals correct per opcode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DF3"/>
                </a:solidFill>
              </a:rPr>
              <a:t>jal: jump=1 + reg_write=1 ✓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0" y="4617720"/>
            <a:ext cx="274320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46177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ALL 5 TESTBENCHES PASSED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53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27432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5097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Async Reads, Sync Writes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Register file and instruction memory reads are combinational — data is available within the same clock cycle to feed the ALU. Writes are clocked to prevent races.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4124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41248"/>
            <a:ext cx="2743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5097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R0 Hardwired to Zero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35331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Writes to R0 are blocked by gating on reg_write_dest ≠ '000'. Reads always return 0x00000000. This is the standard MIPS convention enforced in hardware.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84124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41248"/>
            <a:ext cx="27432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5097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Two-Level ALU Decoding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35331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Main Control Unit outputs ALUOp (2-bit). ALU Control refines this with the funct field (3-bit) from R-type instructions to produce the final 3-bit alu_control.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274320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6265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Zero Flag for BEQ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The ALU performs SUB for BEQ instructions. If result = 0x00000000, the zero flag goes high. This single bit gates the branch adder output in the datapath.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85292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52928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6265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Boundary Protection (Instruction Memory)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36499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When PC ≥ 0x20 (32 decimal), instruction memory outputs 0x00000000 (NOP). Prevents fetching garbage beyond the 16-entry ROM.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85292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52928"/>
            <a:ext cx="27432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6265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</a:rPr>
              <a:t>Single-Cycle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36499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Every instruction — simple or complex — completes in exactly one clock cycle. Simpler to design and verify than pipelined, at the cost of clock speed.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920240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14+6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ALU Operations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(Part A)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20240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9144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5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MIPS Instructions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Supported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1920240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9144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VHDL Components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Implemented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03720" y="868680"/>
            <a:ext cx="1920240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91440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5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5/5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03720" y="150876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Testbench Tasks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BB5"/>
                </a:solidFill>
              </a:rPr>
              <a:t>Passed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2128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Learnings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109728" cy="1097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606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Translated ISA theory into working hardware components in both visual and HDL environments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145536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081528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Understood single-cycle datapath timing: why async reads are mandatory for single-cycle design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557016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Verified hardware behaviour through testbenches and GTKWave waveform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032504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3"/>
                </a:solidFill>
              </a:rPr>
              <a:t>Gained proficiency in VHDL-2008 with GHDL simulation and VS Code workflow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</a:rPr>
              <a:t>University of Ghana  •  CPEN 315 Computer Organization &amp; Architecture  •  2025/2026  •  Prof. R.A. Sowah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7039</Words>
  <Application>WPS Writer</Application>
  <PresentationFormat>On-screen Show (16:9)</PresentationFormat>
  <Paragraphs>1027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SimSun</vt:lpstr>
      <vt:lpstr>Wingdings</vt:lpstr>
      <vt:lpstr>宋体-简</vt:lpstr>
      <vt:lpstr>Arial Black</vt:lpstr>
      <vt:lpstr>Arial Black</vt:lpstr>
      <vt:lpstr>Arial Black</vt:lpstr>
      <vt:lpstr>Consolas</vt:lpstr>
      <vt:lpstr>苹方-简</vt:lpstr>
      <vt:lpstr>Consolas</vt:lpstr>
      <vt:lpstr>Consolas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CPU</dc:title>
  <dc:creator>PptxGenJS</dc:creator>
  <dc:subject>PptxGenJS Presentation</dc:subject>
  <cp:lastModifiedBy>Jefferson Adda (Aj)</cp:lastModifiedBy>
  <cp:revision>3</cp:revision>
  <dcterms:created xsi:type="dcterms:W3CDTF">2026-04-03T23:22:41Z</dcterms:created>
  <dcterms:modified xsi:type="dcterms:W3CDTF">2026-04-03T23:22:41Z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491722C0CF0040DF2805D069C24208F8_42</vt:lpwstr>
  </property>
  <property fmtid="{D5CDD505-2E9C-101B-9397-08002B2CF9AE}" pid="3" name="KSOProductBuildVer">
    <vt:lpwstr>1033-12.1.23155.23155</vt:lpwstr>
  </property>
</Properties>
</file>